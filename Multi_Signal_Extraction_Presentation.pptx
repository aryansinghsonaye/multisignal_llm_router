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408ab07-dc87-4bcb-c937-32c8771e7616}">
          <p14:sldIdLst>
            <p14:sldId id="256"/>
          </p14:sldIdLst>
        </p14:section>
        <p14:section name="Problem &amp; approach" id="{144e5454-64f8-90f5-71bf-b5aabcf4052d}">
          <p14:sldIdLst>
            <p14:sldId id="257"/>
            <p14:sldId id="258"/>
          </p14:sldIdLst>
        </p14:section>
        <p14:section name="Multi-signal extraction" id="{0000ec75-bd47-c47f-238c-e9a1721298aa}">
          <p14:sldIdLst>
            <p14:sldId id="259"/>
            <p14:sldId id="260"/>
            <p14:sldId id="261"/>
            <p14:sldId id="262"/>
          </p14:sldIdLst>
        </p14:section>
        <p14:section name="Prototype &amp; results" id="{a0cd0a88-c5a8-fb50-ff2e-f1290652d4bd}">
          <p14:sldIdLst>
            <p14:sldId id="263"/>
            <p14:sldId id="264"/>
          </p14:sldIdLst>
        </p14:section>
        <p14:section name="Wrap-up" id="{ac4d6a41-8dfe-bf56-2520-2f62adc22d54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3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232E"/>
                </a:solidFill>
                <a:latin typeface="+mn-lt"/>
              </a:rPr>
              <a:t>Predicted tier probability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HARD</c:v>
                </c:pt>
              </c:strCache>
            </c:strRef>
          </c:tx>
          <c:spPr>
            <a:solidFill>
              <a:srgbClr val="C75B7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“What is 2 + 2?”</c:v>
                  </c:pt>
                  <c:pt idx="1">
                    <c:v>Corpus sample (therapy MCQ)</c:v>
                  </c:pt>
                  <c:pt idx="2">
                    <c:v>Traceback, 6 turns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41.02</c:v>
                </c:pt>
                <c:pt idx="1">
                  <c:v>3.12</c:v>
                </c:pt>
                <c:pt idx="2">
                  <c:v>60.54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“What is 2 + 2?”</c:v>
                  </c:pt>
                  <c:pt idx="1">
                    <c:v>Corpus sample (therapy MCQ)</c:v>
                  </c:pt>
                  <c:pt idx="2">
                    <c:v>Traceback, 6 turns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5.87</c:v>
                </c:pt>
                <c:pt idx="1">
                  <c:v>93.71</c:v>
                </c:pt>
                <c:pt idx="2">
                  <c:v>20.48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EASY</c:v>
                </c:pt>
              </c:strCache>
            </c:strRef>
          </c:tx>
          <c:spPr>
            <a:solidFill>
              <a:srgbClr val="1F7A4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“What is 2 + 2?”</c:v>
                  </c:pt>
                  <c:pt idx="1">
                    <c:v>Corpus sample (therapy MCQ)</c:v>
                  </c:pt>
                  <c:pt idx="2">
                    <c:v>Traceback, 6 turns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53.11</c:v>
                </c:pt>
                <c:pt idx="1">
                  <c:v>3.17</c:v>
                </c:pt>
                <c:pt idx="2">
                  <c:v>18.98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223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3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5E1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223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3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232E"/>
                </a:solidFill>
                <a:latin typeface="+mn-lt"/>
              </a:rPr>
              <a:t>Per-class metrics (test split)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HARD</c:v>
                  </c:pt>
                  <c:pt idx="1">
                    <c:v>MEDIUM</c:v>
                  </c:pt>
                  <c:pt idx="2">
                    <c:v>EASY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0.94</c:v>
                </c:pt>
                <c:pt idx="1">
                  <c:v>0.78</c:v>
                </c:pt>
                <c:pt idx="2">
                  <c:v>0.82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6C5B9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HARD</c:v>
                  </c:pt>
                  <c:pt idx="1">
                    <c:v>MEDIUM</c:v>
                  </c:pt>
                  <c:pt idx="2">
                    <c:v>EASY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0.76</c:v>
                </c:pt>
                <c:pt idx="1">
                  <c:v>0.89</c:v>
                </c:pt>
                <c:pt idx="2">
                  <c:v>0.87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HARD</c:v>
                  </c:pt>
                  <c:pt idx="1">
                    <c:v>MEDIUM</c:v>
                  </c:pt>
                  <c:pt idx="2">
                    <c:v>EASY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0.84</c:v>
                </c:pt>
                <c:pt idx="1">
                  <c:v>0.83</c:v>
                </c:pt>
                <c:pt idx="2">
                  <c:v>0.85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223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3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D5E1D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223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2">
    <p:bg>
      <p:bgPr>
        <a:solidFill>
          <a:srgbClr val="12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9776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CostOps  ·  Task 4  ·  Multi-signal extraction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rgbClr val="12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Multi-Signal Extraction for Difficulty Routing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977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Task / Feature Characterization (Approach 3) for difficulty classification in long, heterogeneous prompts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669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Aryansingh Sonaye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AI25BTECH11032  ·  CostOps track  ·  Project presentation, October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052560" y="12344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7726" y="1419606"/>
            <a:ext cx="315468" cy="3154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21240" y="1234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Context volume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052560" y="21488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7726" y="2334006"/>
            <a:ext cx="315468" cy="3154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921240" y="2148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Conversation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9052560" y="3063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7726" y="3248406"/>
            <a:ext cx="315468" cy="3154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921240" y="30632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Task structure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9052560" y="397764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7726" y="4162806"/>
            <a:ext cx="315468" cy="31546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921240" y="3977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Modality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052560" y="489204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7726" y="5077206"/>
            <a:ext cx="315468" cy="31546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921240" y="4892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Semantics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Prompt length is not task difficulty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2697480"/>
          </a:xfrm>
          <a:prstGeom prst="roundRect">
            <a:avLst>
              <a:gd name="adj" fmla="val 4068"/>
            </a:avLst>
          </a:prstGeom>
          <a:solidFill>
            <a:srgbClr val="EAF2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Long prompt + simple task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554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EASY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“Fix the null-pointer exception”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468880"/>
            <a:ext cx="274320" cy="6400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2468880"/>
            <a:ext cx="1417320" cy="640080"/>
          </a:xfrm>
          <a:prstGeom prst="rect">
            <a:avLst/>
          </a:prstGeom>
          <a:solidFill>
            <a:srgbClr val="F7C7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4688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2E"/>
                </a:solidFill>
              </a:rPr>
              <a:t>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2468880"/>
            <a:ext cx="868680" cy="640080"/>
          </a:xfrm>
          <a:prstGeom prst="rect">
            <a:avLst/>
          </a:prstGeom>
          <a:solidFill>
            <a:srgbClr val="F4B8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468880" y="246888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2E"/>
                </a:solidFill>
              </a:rPr>
              <a:t>trace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2468880"/>
            <a:ext cx="868680" cy="640080"/>
          </a:xfrm>
          <a:prstGeom prst="rect">
            <a:avLst/>
          </a:prstGeom>
          <a:solidFill>
            <a:srgbClr val="F7C7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37560" y="246888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2E"/>
                </a:solidFill>
              </a:rPr>
              <a:t>tests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06240" y="2468880"/>
            <a:ext cx="960120" cy="640080"/>
          </a:xfrm>
          <a:prstGeom prst="rect">
            <a:avLst/>
          </a:prstGeom>
          <a:solidFill>
            <a:srgbClr val="F4B8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06240" y="24688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2E"/>
                </a:solidFill>
              </a:rPr>
              <a:t>docs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66360" y="2468880"/>
            <a:ext cx="502920" cy="640080"/>
          </a:xfrm>
          <a:prstGeom prst="rect">
            <a:avLst/>
          </a:prstGeom>
          <a:solidFill>
            <a:srgbClr val="F7C7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66360" y="24688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2E"/>
                </a:solidFill>
              </a:rPr>
              <a:t>chat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task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520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Thousands of tokens of auxiliary context; the real ask is a few words.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1417320"/>
            <a:ext cx="5440680" cy="2697480"/>
          </a:xfrm>
          <a:prstGeom prst="roundRect">
            <a:avLst>
              <a:gd name="adj" fmla="val 4068"/>
            </a:avLst>
          </a:prstGeom>
          <a:solidFill>
            <a:srgbClr val="EAF2F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Short prompt + complex task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0195560" y="1554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HARD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“Prove the generalized Poincaré conjecture for smooth 4-manifolds…”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2468880"/>
            <a:ext cx="4937760" cy="6400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2468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the whole prompt is the task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3520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Few tokens, but real difficulty: a size-based view would call it easy.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it matters for cost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48640" y="4846320"/>
            <a:ext cx="3200400" cy="1188720"/>
          </a:xfrm>
          <a:prstGeom prst="roundRect">
            <a:avLst>
              <a:gd name="adj" fmla="val 9231"/>
            </a:avLst>
          </a:prstGeom>
          <a:solidFill>
            <a:srgbClr val="0E4D5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8463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Router reads the whole prompt as one representation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931920" y="5303520"/>
            <a:ext cx="365760" cy="274320"/>
          </a:xfrm>
          <a:prstGeom prst="rightArrow">
            <a:avLst/>
          </a:prstGeom>
          <a:solidFill>
            <a:srgbClr val="5B6B76"/>
          </a:solidFill>
          <a:ln/>
        </p:spPr>
      </p:sp>
      <p:sp>
        <p:nvSpPr>
          <p:cNvPr id="31" name="Shape 29"/>
          <p:cNvSpPr/>
          <p:nvPr/>
        </p:nvSpPr>
        <p:spPr>
          <a:xfrm>
            <a:off x="4480560" y="4846320"/>
            <a:ext cx="3200400" cy="1188720"/>
          </a:xfrm>
          <a:prstGeom prst="roundRect">
            <a:avLst>
              <a:gd name="adj" fmla="val 9231"/>
            </a:avLst>
          </a:prstGeom>
          <a:solidFill>
            <a:srgbClr val="0E4D5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663440" y="48463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Token volume inflates the perceived difficulty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863840" y="5303520"/>
            <a:ext cx="365760" cy="274320"/>
          </a:xfrm>
          <a:prstGeom prst="rightArrow">
            <a:avLst/>
          </a:prstGeom>
          <a:solidFill>
            <a:srgbClr val="5B6B76"/>
          </a:solidFill>
          <a:ln/>
        </p:spPr>
      </p:sp>
      <p:sp>
        <p:nvSpPr>
          <p:cNvPr id="34" name="Shape 32"/>
          <p:cNvSpPr/>
          <p:nvPr/>
        </p:nvSpPr>
        <p:spPr>
          <a:xfrm>
            <a:off x="8412480" y="4846320"/>
            <a:ext cx="3200400" cy="1188720"/>
          </a:xfrm>
          <a:prstGeom prst="roundRect">
            <a:avLst>
              <a:gd name="adj" fmla="val 9231"/>
            </a:avLst>
          </a:prstGeom>
          <a:solidFill>
            <a:srgbClr val="C75B7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95360" y="48463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Needless escalation to frontier models or agent harnesses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Approach: characterize first, then classify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EAF2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Heterogeneous prompt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Instruction + code, traces, tests, docs, history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14600" y="2103120"/>
            <a:ext cx="274320" cy="274320"/>
          </a:xfrm>
          <a:prstGeom prst="rightArrow">
            <a:avLst/>
          </a:prstGeom>
          <a:solidFill>
            <a:srgbClr val="5B6B76"/>
          </a:solidFill>
          <a:ln/>
        </p:spPr>
      </p:sp>
      <p:sp>
        <p:nvSpPr>
          <p:cNvPr id="8" name="Shape 6"/>
          <p:cNvSpPr/>
          <p:nvPr/>
        </p:nvSpPr>
        <p:spPr>
          <a:xfrm>
            <a:off x="2834640" y="150876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E7C7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7180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1965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Parallel signal extraction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rule-based signals + TF-IDF semantics, one pass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2103120"/>
            <a:ext cx="274320" cy="274320"/>
          </a:xfrm>
          <a:prstGeom prst="rightArrow">
            <a:avLst/>
          </a:prstGeom>
          <a:solidFill>
            <a:srgbClr val="5B6B76"/>
          </a:solidFill>
          <a:ln/>
        </p:spPr>
      </p:sp>
      <p:sp>
        <p:nvSpPr>
          <p:cNvPr id="13" name="Shape 11"/>
          <p:cNvSpPr/>
          <p:nvPr/>
        </p:nvSpPr>
        <p:spPr>
          <a:xfrm>
            <a:off x="5120640" y="150876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EAF2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5780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1965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Projection &amp; fusion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Scale signals, fuse into one numeric vector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86600" y="2103120"/>
            <a:ext cx="274320" cy="274320"/>
          </a:xfrm>
          <a:prstGeom prst="rightArrow">
            <a:avLst/>
          </a:prstGeom>
          <a:solidFill>
            <a:srgbClr val="5B6B76"/>
          </a:solidFill>
          <a:ln/>
        </p:spPr>
      </p:sp>
      <p:sp>
        <p:nvSpPr>
          <p:cNvPr id="18" name="Shape 16"/>
          <p:cNvSpPr/>
          <p:nvPr/>
        </p:nvSpPr>
        <p:spPr>
          <a:xfrm>
            <a:off x="7406640" y="150876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EAF2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54380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1965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Lightweight classifier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Logistic regression: EASY / MEDIUM / HARD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372600" y="2103120"/>
            <a:ext cx="274320" cy="274320"/>
          </a:xfrm>
          <a:prstGeom prst="rightArrow">
            <a:avLst/>
          </a:prstGeom>
          <a:solidFill>
            <a:srgbClr val="5B6B76"/>
          </a:solidFill>
          <a:ln/>
        </p:spPr>
      </p:sp>
      <p:sp>
        <p:nvSpPr>
          <p:cNvPr id="23" name="Shape 21"/>
          <p:cNvSpPr/>
          <p:nvPr/>
        </p:nvSpPr>
        <p:spPr>
          <a:xfrm>
            <a:off x="9692640" y="150876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EAF2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82980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829800" y="1965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Gateway dispatch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Small model, mid model or agent harness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not the alternatives?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AF2F1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4846320"/>
            <a:ext cx="548640" cy="548640"/>
          </a:xfrm>
          <a:prstGeom prst="ellipse">
            <a:avLst/>
          </a:prstGeom>
          <a:solidFill>
            <a:srgbClr val="5B6B76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4994453"/>
            <a:ext cx="252374" cy="252374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463040" y="4800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Compress the prompt (LLMLingua)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463040" y="519379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Shortens the input, but doesn't say which remaining content sets the difficulty.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172200" y="466344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AF2F1"/>
          </a:solidFill>
          <a:ln/>
        </p:spPr>
      </p:sp>
      <p:sp>
        <p:nvSpPr>
          <p:cNvPr id="34" name="Shape 31"/>
          <p:cNvSpPr/>
          <p:nvPr/>
        </p:nvSpPr>
        <p:spPr>
          <a:xfrm>
            <a:off x="6355080" y="4846320"/>
            <a:ext cx="548640" cy="548640"/>
          </a:xfrm>
          <a:prstGeom prst="ellipse">
            <a:avLst/>
          </a:prstGeom>
          <a:solidFill>
            <a:srgbClr val="5B6B76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213" y="4994453"/>
            <a:ext cx="252374" cy="252374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7086600" y="4800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LLM-as-a-judge (AnyJev-style)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7086600" y="519379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Understands the request, but adds multi-second latency and per-token cost to every call.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multi-signal extraction layer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920240" cy="4343400"/>
          </a:xfrm>
          <a:prstGeom prst="roundRect">
            <a:avLst>
              <a:gd name="adj" fmla="val 5714"/>
            </a:avLst>
          </a:prstGeom>
          <a:solidFill>
            <a:srgbClr val="1223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Incoming prompt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" y="2286000"/>
            <a:ext cx="1600200" cy="457200"/>
          </a:xfrm>
          <a:prstGeom prst="roundRect">
            <a:avLst>
              <a:gd name="adj" fmla="val 24000"/>
            </a:avLst>
          </a:prstGeom>
          <a:solidFill>
            <a:srgbClr val="0E4D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2286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task text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944368"/>
            <a:ext cx="1600200" cy="457200"/>
          </a:xfrm>
          <a:prstGeom prst="roundRect">
            <a:avLst>
              <a:gd name="adj" fmla="val 24000"/>
            </a:avLst>
          </a:prstGeom>
          <a:solidFill>
            <a:srgbClr val="0E4D5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9443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code blocks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3602736"/>
            <a:ext cx="1600200" cy="457200"/>
          </a:xfrm>
          <a:prstGeom prst="roundRect">
            <a:avLst>
              <a:gd name="adj" fmla="val 24000"/>
            </a:avLst>
          </a:prstGeom>
          <a:solidFill>
            <a:srgbClr val="0E4D5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36027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stack traces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3232" y="4261104"/>
            <a:ext cx="1600200" cy="457200"/>
          </a:xfrm>
          <a:prstGeom prst="roundRect">
            <a:avLst>
              <a:gd name="adj" fmla="val 24000"/>
            </a:avLst>
          </a:prstGeom>
          <a:solidFill>
            <a:srgbClr val="0E4D5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426110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conversation turns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" y="4919472"/>
            <a:ext cx="1600200" cy="457200"/>
          </a:xfrm>
          <a:prstGeom prst="roundRect">
            <a:avLst>
              <a:gd name="adj" fmla="val 24000"/>
            </a:avLst>
          </a:prstGeom>
          <a:solidFill>
            <a:srgbClr val="0E4D5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49194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attachments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42032" y="3429000"/>
            <a:ext cx="320040" cy="274320"/>
          </a:xfrm>
          <a:prstGeom prst="rightArrow">
            <a:avLst/>
          </a:prstGeom>
          <a:solidFill>
            <a:srgbClr val="5B6B76"/>
          </a:solidFill>
          <a:ln/>
        </p:spPr>
      </p:sp>
      <p:sp>
        <p:nvSpPr>
          <p:cNvPr id="16" name="Shape 14"/>
          <p:cNvSpPr/>
          <p:nvPr/>
        </p:nvSpPr>
        <p:spPr>
          <a:xfrm>
            <a:off x="2926080" y="1463040"/>
            <a:ext cx="5943600" cy="768096"/>
          </a:xfrm>
          <a:prstGeom prst="roundRect">
            <a:avLst>
              <a:gd name="adj" fmla="val 11905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63240" y="1591056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1497" y="1729313"/>
            <a:ext cx="235549" cy="235549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370332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Context volume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70332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how much text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577840" y="1463040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token_count · cumulative_tokens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926080" y="2340864"/>
            <a:ext cx="5943600" cy="768096"/>
          </a:xfrm>
          <a:prstGeom prst="roundRect">
            <a:avLst>
              <a:gd name="adj" fmla="val 11905"/>
            </a:avLst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23" name="Shape 20"/>
          <p:cNvSpPr/>
          <p:nvPr/>
        </p:nvSpPr>
        <p:spPr>
          <a:xfrm>
            <a:off x="3063240" y="2468880"/>
            <a:ext cx="512064" cy="51206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497" y="2607137"/>
            <a:ext cx="235549" cy="235549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703320" y="24323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Conversation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3703320" y="2752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how deep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577840" y="2340864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history_turns · multi_turn_flag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2926080" y="3218688"/>
            <a:ext cx="5943600" cy="768096"/>
          </a:xfrm>
          <a:prstGeom prst="roundRect">
            <a:avLst>
              <a:gd name="adj" fmla="val 11905"/>
            </a:avLst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29" name="Shape 25"/>
          <p:cNvSpPr/>
          <p:nvPr/>
        </p:nvSpPr>
        <p:spPr>
          <a:xfrm>
            <a:off x="3063240" y="3346704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497" y="3484961"/>
            <a:ext cx="235549" cy="235549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3703320" y="3310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Task structure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3703320" y="3630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what kind of problem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5577840" y="3218688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error_flag · code_present · ast_density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2926080" y="4096512"/>
            <a:ext cx="5943600" cy="768096"/>
          </a:xfrm>
          <a:prstGeom prst="roundRect">
            <a:avLst>
              <a:gd name="adj" fmla="val 11905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35" name="Shape 30"/>
          <p:cNvSpPr/>
          <p:nvPr/>
        </p:nvSpPr>
        <p:spPr>
          <a:xfrm>
            <a:off x="3063240" y="4224528"/>
            <a:ext cx="512064" cy="51206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1497" y="4362785"/>
            <a:ext cx="235549" cy="235549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3703320" y="4187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Modality</a:t>
            </a:r>
            <a:endParaRPr lang="en-US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3703320" y="4507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non-text input</a:t>
            </a:r>
            <a:endParaRPr lang="en-US" sz="1200" dirty="0"/>
          </a:p>
        </p:txBody>
      </p:sp>
      <p:sp>
        <p:nvSpPr>
          <p:cNvPr id="39" name="Text 33"/>
          <p:cNvSpPr txBox="1"/>
          <p:nvPr/>
        </p:nvSpPr>
        <p:spPr>
          <a:xfrm>
            <a:off x="5577840" y="409651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modality_flag</a:t>
            </a:r>
            <a:endParaRPr lang="en-US" sz="1400" dirty="0"/>
          </a:p>
        </p:txBody>
      </p:sp>
      <p:sp>
        <p:nvSpPr>
          <p:cNvPr id="40" name="Shape 34"/>
          <p:cNvSpPr/>
          <p:nvPr/>
        </p:nvSpPr>
        <p:spPr>
          <a:xfrm>
            <a:off x="2926080" y="4974336"/>
            <a:ext cx="5943600" cy="768096"/>
          </a:xfrm>
          <a:prstGeom prst="roundRect">
            <a:avLst>
              <a:gd name="adj" fmla="val 11905"/>
            </a:avLst>
          </a:prstGeom>
          <a:solidFill>
            <a:schemeClr val="accent5">
              <a:alpha val="14000"/>
            </a:schemeClr>
          </a:solidFill>
          <a:ln/>
        </p:spPr>
      </p:sp>
      <p:sp>
        <p:nvSpPr>
          <p:cNvPr id="41" name="Shape 35"/>
          <p:cNvSpPr/>
          <p:nvPr/>
        </p:nvSpPr>
        <p:spPr>
          <a:xfrm>
            <a:off x="3063240" y="5102352"/>
            <a:ext cx="512064" cy="512064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1497" y="5240609"/>
            <a:ext cx="235549" cy="235549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3703320" y="50657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Semantics</a:t>
            </a:r>
            <a:endParaRPr lang="en-US" sz="1400" dirty="0"/>
          </a:p>
        </p:txBody>
      </p:sp>
      <p:sp>
        <p:nvSpPr>
          <p:cNvPr id="44" name="Text 37"/>
          <p:cNvSpPr txBox="1"/>
          <p:nvPr/>
        </p:nvSpPr>
        <p:spPr>
          <a:xfrm>
            <a:off x="3703320" y="5385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what is asked</a:t>
            </a:r>
            <a:endParaRPr lang="en-US" sz="1200" dirty="0"/>
          </a:p>
        </p:txBody>
      </p:sp>
      <p:sp>
        <p:nvSpPr>
          <p:cNvPr id="45" name="Text 38"/>
          <p:cNvSpPr txBox="1"/>
          <p:nvPr/>
        </p:nvSpPr>
        <p:spPr>
          <a:xfrm>
            <a:off x="5577840" y="4974336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TF-IDF · 1,000 uni/bigrams</a:t>
            </a:r>
            <a:endParaRPr lang="en-US" sz="1400" dirty="0"/>
          </a:p>
        </p:txBody>
      </p:sp>
      <p:sp>
        <p:nvSpPr>
          <p:cNvPr id="46" name="Shape 39"/>
          <p:cNvSpPr/>
          <p:nvPr/>
        </p:nvSpPr>
        <p:spPr>
          <a:xfrm>
            <a:off x="8942832" y="3429000"/>
            <a:ext cx="274320" cy="274320"/>
          </a:xfrm>
          <a:prstGeom prst="rightArrow">
            <a:avLst/>
          </a:prstGeom>
          <a:solidFill>
            <a:srgbClr val="5B6B76"/>
          </a:solidFill>
          <a:ln/>
        </p:spPr>
      </p:sp>
      <p:sp>
        <p:nvSpPr>
          <p:cNvPr id="47" name="Shape 40"/>
          <p:cNvSpPr/>
          <p:nvPr/>
        </p:nvSpPr>
        <p:spPr>
          <a:xfrm>
            <a:off x="9281160" y="146304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0E7C7B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9418320" y="146304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Feature vector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1,000 TF-IDF dims + 8 standardised signals</a:t>
            </a:r>
            <a:endParaRPr lang="en-US" sz="1600" dirty="0"/>
          </a:p>
        </p:txBody>
      </p:sp>
      <p:sp>
        <p:nvSpPr>
          <p:cNvPr id="49" name="Shape 42"/>
          <p:cNvSpPr/>
          <p:nvPr/>
        </p:nvSpPr>
        <p:spPr>
          <a:xfrm>
            <a:off x="10287000" y="3108960"/>
            <a:ext cx="320040" cy="320040"/>
          </a:xfrm>
          <a:prstGeom prst="downArrow">
            <a:avLst/>
          </a:prstGeom>
          <a:solidFill>
            <a:srgbClr val="5B6B76"/>
          </a:solidFill>
          <a:ln/>
        </p:spPr>
      </p:sp>
      <p:sp>
        <p:nvSpPr>
          <p:cNvPr id="50" name="Shape 43"/>
          <p:cNvSpPr/>
          <p:nvPr/>
        </p:nvSpPr>
        <p:spPr>
          <a:xfrm>
            <a:off x="9281160" y="3520440"/>
            <a:ext cx="2331720" cy="1097280"/>
          </a:xfrm>
          <a:prstGeom prst="roundRect">
            <a:avLst>
              <a:gd name="adj" fmla="val 10000"/>
            </a:avLst>
          </a:prstGeom>
          <a:solidFill>
            <a:srgbClr val="0E4D52"/>
          </a:solidFill>
          <a:ln/>
        </p:spPr>
      </p:sp>
      <p:sp>
        <p:nvSpPr>
          <p:cNvPr id="51" name="Text 44"/>
          <p:cNvSpPr txBox="1"/>
          <p:nvPr/>
        </p:nvSpPr>
        <p:spPr>
          <a:xfrm>
            <a:off x="9418320" y="35204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Logistic regression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L2, balanced</a:t>
            </a:r>
            <a:endParaRPr lang="en-US" sz="1600" dirty="0"/>
          </a:p>
        </p:txBody>
      </p:sp>
      <p:sp>
        <p:nvSpPr>
          <p:cNvPr id="52" name="Shape 45"/>
          <p:cNvSpPr/>
          <p:nvPr/>
        </p:nvSpPr>
        <p:spPr>
          <a:xfrm>
            <a:off x="10287000" y="4709160"/>
            <a:ext cx="320040" cy="320040"/>
          </a:xfrm>
          <a:prstGeom prst="downArrow">
            <a:avLst/>
          </a:prstGeom>
          <a:solidFill>
            <a:srgbClr val="5B6B76"/>
          </a:solidFill>
          <a:ln/>
        </p:spPr>
      </p:sp>
      <p:sp>
        <p:nvSpPr>
          <p:cNvPr id="53" name="Shape 46"/>
          <p:cNvSpPr/>
          <p:nvPr/>
        </p:nvSpPr>
        <p:spPr>
          <a:xfrm>
            <a:off x="9281160" y="5120640"/>
            <a:ext cx="2331720" cy="685800"/>
          </a:xfrm>
          <a:prstGeom prst="roundRect">
            <a:avLst>
              <a:gd name="adj" fmla="val 16000"/>
            </a:avLst>
          </a:prstGeom>
          <a:solidFill>
            <a:srgbClr val="12232E"/>
          </a:solidFill>
          <a:ln/>
        </p:spPr>
      </p:sp>
      <p:sp>
        <p:nvSpPr>
          <p:cNvPr id="54" name="Text 47"/>
          <p:cNvSpPr txBox="1"/>
          <p:nvPr/>
        </p:nvSpPr>
        <p:spPr>
          <a:xfrm>
            <a:off x="9281160" y="5120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EASY · MEDIUM · HARD</a:t>
            </a:r>
            <a:endParaRPr lang="en-US" sz="1400" dirty="0"/>
          </a:p>
        </p:txBody>
      </p:sp>
      <p:sp>
        <p:nvSpPr>
          <p:cNvPr id="55" name="Text 48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Context-volume signals live in their own channel, so their influence can be measured, ablated or down-weighted.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Eight signals, one pass, no model call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85216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3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How it is extracted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3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tells the router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3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36B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token_count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Whitespace word count of the prompt (min 1)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Context volume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36B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cumulative_tokens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Running word count across the conversation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Accumulated context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C5B9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history_turns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Number of turns in the prompt list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Conversation depth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C5B9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multi_turn_flag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1 if more than one turn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Follow-up / refinement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error_flag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Regex: Traceback, NullPointerException, TypeError, ValueError, AssertionError, RuntimeError, Exception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Debugging task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code_present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``` fence, or keywords: def, class, import, return, function, const, let, var…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Code is involved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75B7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modality_flag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Image/video extension (.png .jpg .mp4 .mov…) or ![…] markdown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Non-text input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ast_density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Python ast nodes ÷ tokens on the first fenced block; 0 if unparsable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Structural complexity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Signal name colours follow the five families on the previous slide.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AST density: structure per token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1223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get_user(db, uid):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 = db.find(uid)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user.name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ast.parse → 20 nodes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5212080" cy="2331720"/>
          </a:xfrm>
          <a:prstGeom prst="roundRect">
            <a:avLst>
              <a:gd name="adj" fmla="val 4706"/>
            </a:avLst>
          </a:prstGeom>
          <a:solidFill>
            <a:srgbClr val="EA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density = AST nodes ÷ token count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34340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Node count ignores padding; only the ratio moves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Volume can dilute density, never inflate 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SyntaxError → 0.0 (safe fallback)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41732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EAF2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Short fix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15 tokens · 20 nodes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235440" y="1508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1.33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6035040" y="297180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EAF2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Same fix + 1,350 words of docs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1,365 tokens · 20 nodes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30632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B36B00"/>
                </a:solidFill>
              </a:rPr>
              <a:t>0.015</a:t>
            </a:r>
            <a:endParaRPr lang="en-US" sz="4400" dirty="0"/>
          </a:p>
        </p:txBody>
      </p:sp>
      <p:sp>
        <p:nvSpPr>
          <p:cNvPr id="17" name="Shape 15"/>
          <p:cNvSpPr/>
          <p:nvPr/>
        </p:nvSpPr>
        <p:spPr>
          <a:xfrm>
            <a:off x="6035040" y="452628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EAF2F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Dijkstra-style routine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50 tokens · 137 nodes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46177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2.74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612648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Computed with the prototype's extractor on illustrative prompts.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From signals to a routing decision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02152" cy="2880360"/>
          </a:xfrm>
          <a:prstGeom prst="roundRect">
            <a:avLst>
              <a:gd name="adj" fmla="val 3810"/>
            </a:avLst>
          </a:prstGeom>
          <a:solidFill>
            <a:srgbClr val="EAF2F1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717" y="1760677"/>
            <a:ext cx="273406" cy="2734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00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Fuse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7744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FeatureUnion of two blocks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TF-IDF: 1,000 uni/bigrams (semantics)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8 signals through StandardScaler, so structure gets equal footing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25112" y="1417320"/>
            <a:ext cx="3502152" cy="2880360"/>
          </a:xfrm>
          <a:prstGeom prst="roundRect">
            <a:avLst>
              <a:gd name="adj" fmla="val 3810"/>
            </a:avLst>
          </a:prstGeom>
          <a:solidFill>
            <a:srgbClr val="EAF2F1"/>
          </a:solidFill>
          <a:ln/>
        </p:spPr>
      </p:sp>
      <p:sp>
        <p:nvSpPr>
          <p:cNvPr id="9" name="Shape 6"/>
          <p:cNvSpPr/>
          <p:nvPr/>
        </p:nvSpPr>
        <p:spPr>
          <a:xfrm>
            <a:off x="4553712" y="160020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189" y="1760677"/>
            <a:ext cx="273406" cy="27340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30952" y="1600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Classify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53712" y="237744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Logistic regression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L2, C = 0.5, balanced class weights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Per-tier probabilities and inspectable coefficients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01584" y="1417320"/>
            <a:ext cx="3502152" cy="2880360"/>
          </a:xfrm>
          <a:prstGeom prst="roundRect">
            <a:avLst>
              <a:gd name="adj" fmla="val 3810"/>
            </a:avLst>
          </a:prstGeom>
          <a:solidFill>
            <a:srgbClr val="EAF2F1"/>
          </a:solidFill>
          <a:ln/>
        </p:spPr>
      </p:sp>
      <p:sp>
        <p:nvSpPr>
          <p:cNvPr id="14" name="Shape 10"/>
          <p:cNvSpPr/>
          <p:nvPr/>
        </p:nvSpPr>
        <p:spPr>
          <a:xfrm>
            <a:off x="8330184" y="160020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661" y="1760677"/>
            <a:ext cx="273406" cy="27340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07424" y="1600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Label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30184" y="237744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RouterBench tiers (≈36.5k prompts)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Score = best model's performance − 0.5 × normalised cost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Tertiles → HARD / MEDIUM / EASY; 15% held out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the design evolved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548640" y="493776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0E4D5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31520" y="49377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Random forest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TF-IDF 5,000 (1–3-gram): text drowns structure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3840480" y="5349240"/>
            <a:ext cx="365760" cy="274320"/>
          </a:xfrm>
          <a:prstGeom prst="rightArrow">
            <a:avLst/>
          </a:prstGeom>
          <a:solidFill>
            <a:srgbClr val="5B6B76"/>
          </a:solidFill>
          <a:ln/>
        </p:spPr>
      </p:sp>
      <p:sp>
        <p:nvSpPr>
          <p:cNvPr id="22" name="Shape 17"/>
          <p:cNvSpPr/>
          <p:nvPr/>
        </p:nvSpPr>
        <p:spPr>
          <a:xfrm>
            <a:off x="4297680" y="493776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0E4D5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480560" y="49377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Random forest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TF-IDF 1,500 + scaling + balanced weights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7589520" y="5349240"/>
            <a:ext cx="365760" cy="274320"/>
          </a:xfrm>
          <a:prstGeom prst="rightArrow">
            <a:avLst/>
          </a:prstGeom>
          <a:solidFill>
            <a:srgbClr val="5B6B76"/>
          </a:solidFill>
          <a:ln/>
        </p:spPr>
      </p:sp>
      <p:sp>
        <p:nvSpPr>
          <p:cNvPr id="25" name="Shape 20"/>
          <p:cNvSpPr/>
          <p:nvPr/>
        </p:nvSpPr>
        <p:spPr>
          <a:xfrm>
            <a:off x="8046720" y="493776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229600" y="49377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Logistic regression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TF-IDF 1,000 + scaled signals, C = 0.5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Prototype demo: three prompts, three tiers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41732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EAF2F1"/>
          </a:solidFill>
          <a:ln/>
        </p:spPr>
      </p:sp>
      <p:sp>
        <p:nvSpPr>
          <p:cNvPr id="5" name="Shape 2"/>
          <p:cNvSpPr/>
          <p:nvPr/>
        </p:nvSpPr>
        <p:spPr>
          <a:xfrm>
            <a:off x="7955280" y="1600200"/>
            <a:ext cx="1143000" cy="4572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55280" y="1600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EASY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23544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53%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Trivial arithmetic: correct, but only 53% vs 41% HARD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0" y="297180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EAF2F1"/>
          </a:solidFill>
          <a:ln/>
        </p:spPr>
      </p:sp>
      <p:sp>
        <p:nvSpPr>
          <p:cNvPr id="10" name="Shape 7"/>
          <p:cNvSpPr/>
          <p:nvPr/>
        </p:nvSpPr>
        <p:spPr>
          <a:xfrm>
            <a:off x="7955280" y="3154680"/>
            <a:ext cx="1143000" cy="4572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955280" y="31546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MEDIUM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235440" y="3063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94%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3749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 test-corpus prompt: most confident of the three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772400" y="452628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EAF2F1"/>
          </a:solidFill>
          <a:ln/>
        </p:spPr>
      </p:sp>
      <p:sp>
        <p:nvSpPr>
          <p:cNvPr id="15" name="Shape 12"/>
          <p:cNvSpPr/>
          <p:nvPr/>
        </p:nvSpPr>
        <p:spPr>
          <a:xfrm>
            <a:off x="7955280" y="4709160"/>
            <a:ext cx="1143000" cy="457200"/>
          </a:xfrm>
          <a:prstGeom prst="rect">
            <a:avLst/>
          </a:prstGeom>
          <a:solidFill>
            <a:srgbClr val="C75B7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955280" y="47091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HARD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23544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61%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5303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Traceback + RuntimeError + 6 turns: error and turn signals fire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Results: 84% accuracy on RouterBench tiers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926080" cy="1188720"/>
          </a:xfrm>
          <a:prstGeom prst="roundRect">
            <a:avLst>
              <a:gd name="adj" fmla="val 9231"/>
            </a:avLst>
          </a:prstGeom>
          <a:solidFill>
            <a:srgbClr val="0E7C7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84%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accuracy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2926080" cy="1188720"/>
          </a:xfrm>
          <a:prstGeom prst="roundRect">
            <a:avLst>
              <a:gd name="adj" fmla="val 9231"/>
            </a:avLst>
          </a:prstGeom>
          <a:solidFill>
            <a:srgbClr val="EA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0.84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66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macro F1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2926080" cy="1188720"/>
          </a:xfrm>
          <a:prstGeom prst="roundRect">
            <a:avLst>
              <a:gd name="adj" fmla="val 9231"/>
            </a:avLst>
          </a:prstGeom>
          <a:solidFill>
            <a:srgbClr val="EAF2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4206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5,475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937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held-out prompts</a:t>
            </a:r>
            <a:endParaRPr lang="en-US" sz="1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749040" y="1371600"/>
          <a:ext cx="78638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3749040" y="5166360"/>
            <a:ext cx="7863840" cy="914400"/>
          </a:xfrm>
          <a:prstGeom prst="roundRect">
            <a:avLst>
              <a:gd name="adj" fmla="val 12000"/>
            </a:avLst>
          </a:prstGeom>
          <a:solidFill>
            <a:srgbClr val="EAF2F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931920" y="51663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HARD precision 0.94: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when the router escalates, it is almost always right.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HARD recall 0.76: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about a quarter of hard prompts slip to cheaper tiers.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Limitations and failure cases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502920"/>
          </a:xfrm>
          <a:prstGeom prst="roundRect">
            <a:avLst>
              <a:gd name="adj" fmla="val 21818"/>
            </a:avLst>
          </a:prstGeom>
          <a:solidFill>
            <a:srgbClr val="C75B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Observed in notebook probes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2200" y="1371600"/>
            <a:ext cx="5440680" cy="502920"/>
          </a:xfrm>
          <a:prstGeom prst="roundRect">
            <a:avLst>
              <a:gd name="adj" fmla="val 21818"/>
            </a:avLst>
          </a:prstGeom>
          <a:solidFill>
            <a:srgbClr val="0E4D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55080" y="13716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Design gaps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EAF2F1"/>
          </a:solidFill>
          <a:ln/>
        </p:spPr>
      </p:sp>
      <p:sp>
        <p:nvSpPr>
          <p:cNvPr id="8" name="Shape 6"/>
          <p:cNvSpPr/>
          <p:nvPr/>
        </p:nvSpPr>
        <p:spPr>
          <a:xfrm>
            <a:off x="6172200" y="187452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EAF2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057400"/>
            <a:ext cx="49834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Hard coding prompts → EASY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Thread-safe LRU cache: 53% EASY vs 46% HARD; async scraper also EASY.</a:t>
            </a:r>
            <a:endParaRPr lang="en-US" sz="16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600" b="1" dirty="0">
                <a:solidFill>
                  <a:schemeClr val="tx1"/>
                </a:solidFill>
              </a:rPr>
              <a:t>Trivial maths → HARD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“What is 2 + 2?” with a maths domain tag: 60% HARD. Vocabulary can outvote structure.</a:t>
            </a:r>
            <a:endParaRPr lang="en-US" sz="16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600" b="1" dirty="0">
                <a:solidFill>
                  <a:schemeClr val="tx1"/>
                </a:solidFill>
              </a:rPr>
              <a:t>Hard maths is borderline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Poincaré prompt: only 55% HARD, 42% EASY.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057400"/>
            <a:ext cx="49834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Labels are a proxy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Cost-efficiency of the best model, not human-judged difficulty.</a:t>
            </a:r>
            <a:endParaRPr lang="en-US" sz="16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600" b="1" dirty="0">
                <a:solidFill>
                  <a:schemeClr val="tx1"/>
                </a:solidFill>
              </a:rPr>
              <a:t>Decoupling not yet proven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token_count still feeds the model; no ablation run yet.</a:t>
            </a:r>
            <a:endParaRPr lang="en-US" sz="16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600" b="1" dirty="0">
                <a:solidFill>
                  <a:schemeClr val="tx1"/>
                </a:solidFill>
              </a:rPr>
              <a:t>Brittle detectors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Words like “return” or “Exception” in prose trip flags; AST is Python-only; unfenced traces are missed.</a:t>
            </a:r>
            <a:endParaRPr lang="en-US" sz="16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600" b="1" dirty="0">
                <a:solidFill>
                  <a:schemeClr val="tx1"/>
                </a:solidFill>
              </a:rPr>
              <a:t>Padding dilutes density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Denominator is the whole prompt, so real code density shrinks in long prompts.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Future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EAF2F1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2" y="186446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002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Ablate context-volume signals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0574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Drop token_count and cumulative_tokens; check that Long/Easy prompts stay EASY.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EAF2F1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0" y="16916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622" y="1864462"/>
            <a:ext cx="294437" cy="2944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6002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Run the 4-quadrant benchmark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223760" y="20574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Short/Long × Easy/Hard shared set: accuracy and signal quality (subtask 4.9).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29184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EAF2F1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56616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62" y="3738982"/>
            <a:ext cx="294437" cy="29443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474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Benchmark latency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39319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Measure extraction + inference against the &lt; 15 ms gateway budget.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172200" y="329184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EAF2F1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0" y="35661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622" y="3738982"/>
            <a:ext cx="294437" cy="29443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23760" y="3474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Sharper task-only signals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223760" y="39319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Density over code tokens only, multi-language AST, unfenced traces; plug into vLLM Semantic Router.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5349240"/>
            <a:ext cx="3566160" cy="868680"/>
          </a:xfrm>
          <a:prstGeom prst="roundRect">
            <a:avLst>
              <a:gd name="adj" fmla="val 12632"/>
            </a:avLst>
          </a:prstGeom>
          <a:solidFill>
            <a:srgbClr val="12232E"/>
          </a:solidFill>
          <a:ln/>
        </p:spPr>
      </p:sp>
      <p:sp>
        <p:nvSpPr>
          <p:cNvPr id="24" name="Shape 18"/>
          <p:cNvSpPr/>
          <p:nvPr/>
        </p:nvSpPr>
        <p:spPr>
          <a:xfrm>
            <a:off x="731520" y="5532120"/>
            <a:ext cx="868680" cy="50292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31520" y="55321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Done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1737360" y="5349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Design, signal definitions, architecture (4.1–4.6)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297680" y="5349240"/>
            <a:ext cx="3566160" cy="868680"/>
          </a:xfrm>
          <a:prstGeom prst="roundRect">
            <a:avLst>
              <a:gd name="adj" fmla="val 12632"/>
            </a:avLst>
          </a:prstGeom>
          <a:solidFill>
            <a:srgbClr val="12232E"/>
          </a:solidFill>
          <a:ln/>
        </p:spPr>
      </p:sp>
      <p:sp>
        <p:nvSpPr>
          <p:cNvPr id="28" name="Shape 22"/>
          <p:cNvSpPr/>
          <p:nvPr/>
        </p:nvSpPr>
        <p:spPr>
          <a:xfrm>
            <a:off x="4480560" y="5532120"/>
            <a:ext cx="868680" cy="5029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4480560" y="55321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Now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0" y="5349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Prototype running; evaluation under way (4.7–4.9)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046720" y="5349240"/>
            <a:ext cx="3566160" cy="868680"/>
          </a:xfrm>
          <a:prstGeom prst="roundRect">
            <a:avLst>
              <a:gd name="adj" fmla="val 12632"/>
            </a:avLst>
          </a:prstGeom>
          <a:solidFill>
            <a:srgbClr val="12232E"/>
          </a:solidFill>
          <a:ln/>
        </p:spPr>
      </p:sp>
      <p:sp>
        <p:nvSpPr>
          <p:cNvPr id="32" name="Shape 26"/>
          <p:cNvSpPr/>
          <p:nvPr/>
        </p:nvSpPr>
        <p:spPr>
          <a:xfrm>
            <a:off x="8229600" y="5532120"/>
            <a:ext cx="868680" cy="502920"/>
          </a:xfrm>
          <a:prstGeom prst="rect">
            <a:avLst/>
          </a:prstGeom>
          <a:solidFill>
            <a:srgbClr val="5B6B76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8229600" y="55321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Next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9235440" y="5349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Failure-case write-up, team comparison slides (4.10–4.11)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Characterize first, then classify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8288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Length ≠ difficulty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2860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Treat volume and task structure as separate, measurable signals.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32004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Cheap signals go far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36576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Eight rule-based signals + TF-IDF + logistic regression: 84% accuracy on RouterBench tiers.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663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45720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Next: prove the decoupling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50292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Ablations and the 4-quadrant benchmark decide whether the claim holds.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03920" y="1920240"/>
            <a:ext cx="3108960" cy="31089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19202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84%</a:t>
            </a:r>
            <a:endParaRPr lang="en-US" sz="6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accuracy · macro F1 0.84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Thank you  · 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Multi-Signal Extraction for Difficulty Routing</dc:title>
  <dc:subject>PptxGenJS Presentation</dc:subject>
  <dc:creator>Aryansingh Sonaye</dc:creator>
  <cp:lastModifiedBy>Aryansingh Sonaye</cp:lastModifiedBy>
  <cp:revision>1</cp:revision>
  <dcterms:created xsi:type="dcterms:W3CDTF">2026-10-16T13:40:06Z</dcterms:created>
  <dcterms:modified xsi:type="dcterms:W3CDTF">2026-10-16T13:40:06Z</dcterms:modified>
</cp:coreProperties>
</file>